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ibre Franklin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ibreFranklin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LibreFranklin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ibreFrankli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a374ea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a374ea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e477bac9_4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g3d6e477bac9_4_1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d6e477bac9_4_1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6e477bac9_4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g3d6e477bac9_4_4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d6e477bac9_4_4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e477bac9_4_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g3d6e477bac9_4_5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6e477bac9_4_5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6e477bac9_4_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d6e477bac9_4_8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d6e477bac9_4_8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e477bac9_4_1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d6e477bac9_4_12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6e477bac9_4_12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6e477bac9_4_1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d6e477bac9_4_16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d6e477bac9_4_16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6e477bac9_4_1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g3d6e477bac9_4_19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6e477bac9_4_19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6e477bac9_4_2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d6e477bac9_4_21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d6e477bac9_4_21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6e477bac9_4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6e477bac9_4_24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6e477bac9_4_2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g3d6e477bac9_4_28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d6e477bac9_4_28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tyle 1">
  <p:cSld name="TITLE_1">
    <p:bg>
      <p:bgPr>
        <a:solidFill>
          <a:srgbClr val="FFFCF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7688" y="459864"/>
            <a:ext cx="6048625" cy="21170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834300" y="2918964"/>
            <a:ext cx="7475400" cy="0"/>
          </a:xfrm>
          <a:prstGeom prst="straightConnector1">
            <a:avLst/>
          </a:prstGeom>
          <a:noFill/>
          <a:ln cap="flat" cmpd="sng" w="19050">
            <a:solidFill>
              <a:srgbClr val="E0E0E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13"/>
          <p:cNvCxnSpPr/>
          <p:nvPr/>
        </p:nvCxnSpPr>
        <p:spPr>
          <a:xfrm>
            <a:off x="834313" y="4256064"/>
            <a:ext cx="7475400" cy="0"/>
          </a:xfrm>
          <a:prstGeom prst="straightConnector1">
            <a:avLst/>
          </a:prstGeom>
          <a:noFill/>
          <a:ln cap="flat" cmpd="sng" w="19050">
            <a:solidFill>
              <a:srgbClr val="E0E0E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/>
        </p:nvSpPr>
        <p:spPr>
          <a:xfrm>
            <a:off x="346200" y="2981148"/>
            <a:ext cx="84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ibre Franklin"/>
                <a:ea typeface="Libre Franklin"/>
                <a:cs typeface="Libre Franklin"/>
                <a:sym typeface="Libre Franklin"/>
              </a:rPr>
              <a:t>Staff Portal Partnership Hub</a:t>
            </a:r>
            <a:endParaRPr b="1" sz="3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1" name="Google Shape;61;p16"/>
          <p:cNvSpPr txBox="1"/>
          <p:nvPr/>
        </p:nvSpPr>
        <p:spPr>
          <a:xfrm>
            <a:off x="346200" y="3538748"/>
            <a:ext cx="845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D34508"/>
                </a:solidFill>
                <a:latin typeface="Calibri"/>
                <a:ea typeface="Calibri"/>
                <a:cs typeface="Calibri"/>
                <a:sym typeface="Calibri"/>
              </a:rPr>
              <a:t>Managing Internship, Full-time &amp; Apprenticeship</a:t>
            </a:r>
            <a:endParaRPr sz="1300">
              <a:solidFill>
                <a:srgbClr val="D3450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D34508"/>
                </a:solidFill>
                <a:latin typeface="Calibri"/>
                <a:ea typeface="Calibri"/>
                <a:cs typeface="Calibri"/>
                <a:sym typeface="Calibri"/>
              </a:rPr>
              <a:t>partnerships within the Staff Portal experience</a:t>
            </a:r>
            <a:endParaRPr b="1" sz="1300">
              <a:solidFill>
                <a:srgbClr val="D3450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Georgia"/>
              <a:buNone/>
            </a:pPr>
            <a:r>
              <a:rPr b="1" lang="en" sz="3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640080" y="868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i="1" lang="en" sz="14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Staff can't run partnerships from one place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640080" y="1463040"/>
            <a:ext cx="37490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640080" y="1463040"/>
            <a:ext cx="64008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91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Scattered Opportunities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914400" y="20574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Partner opportunities arrive through email, Slack, and phone calls. Staff tracks openings in personal spreadsheets and forgets which are still live.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754880" y="1463040"/>
            <a:ext cx="37490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754880" y="1463040"/>
            <a:ext cx="64008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691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548640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Readiness Signal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029200" y="20574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Counselors can't tell at a glance which students are actually ready for referrals. Judgment lives in counselors' heads, not in data.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40080" y="3154680"/>
            <a:ext cx="37490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640080" y="3154680"/>
            <a:ext cx="64008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383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1371600" y="3337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Lost Referrals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914400" y="374904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Once a student is referred to a partner, the outcome is a black hole. Did they interview? Did they get an offer? No system of record.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754880" y="3154680"/>
            <a:ext cx="37490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754880" y="3154680"/>
            <a:ext cx="64008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383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5486400" y="3337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Cohort Chaos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029200" y="374904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Deep partnerships like CHW + AlliedUP need 20 students matched at once. Today this is a spreadsheet, a group email, and a prayer.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Georgia"/>
              <a:buNone/>
            </a:pPr>
            <a:r>
              <a:rPr b="1" lang="en" sz="28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Current State vs. Proposed Enhancement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FFF0F0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C43B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731520" y="169164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Partner opportunities tracked in email &amp; Excel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shared view of open opportunities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Referrals done via email / phone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Job Readiness Score on student profile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status tracking once student is referred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Cohort matching done in spreadsheets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2560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E6F5F2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STATE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120640" y="169164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Partnership Hub with three tiered tabs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Readiness Score surfaces ready students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One-click matched referrals for L1 &amp; L2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Full referral status pipeline with stale alerts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Cohort Matching for L3 apprenticeships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Partner Performance Dashboard for decisions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Georgia"/>
              <a:buNone/>
            </a:pPr>
            <a:r>
              <a:rPr b="1" lang="en" sz="28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Three-Tier Partnership Model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64008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i="1" lang="en" sz="13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One Hub, three tabs — each tier has its own workflow and data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57200" y="137160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594360" y="23774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L1 · Internship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594360" y="26517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Short-term &amp; In-program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40080" y="301752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Micro-internships, course-credit placements, short engagements. Individual referrals. Partner examples: Parker Dewey, CHW clinical sites.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2606040" y="137160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2606040" y="1371600"/>
            <a:ext cx="1920240" cy="914400"/>
          </a:xfrm>
          <a:prstGeom prst="rect">
            <a:avLst/>
          </a:prstGeom>
          <a:solidFill>
            <a:srgbClr val="C43B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2743200" y="23774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L2 · Full-time Career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743200" y="26517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Post-graduation Employment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788920" y="301752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Full-time roles after certification. Individual referrals with salary and start-date details. Partner examples: Accenture, Snap, Docusign.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754880" y="137160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754880" y="1371600"/>
            <a:ext cx="1920240" cy="9144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/>
          <p:nvPr/>
        </p:nvSpPr>
        <p:spPr>
          <a:xfrm>
            <a:off x="4892040" y="23774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L3 · Apprenticeship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892040" y="26517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Deep Employer Partnership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937760" y="301752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Guaranteed cohort placement, WIOA-funded, earn-while-learn. Cohort matching flow. Example: CHW + SEIU-UHW + AlliedUP Co-op.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6903720" y="137160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903720" y="1371600"/>
            <a:ext cx="19202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524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7040880" y="23774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Shared Framework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7040880" y="26517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Across All Tiers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7086600" y="301752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All tiers share: Job Readiness Score, Partner Performance metrics, staff-only visibility, audit trail, opt-in student notifications.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640080" y="182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Scenario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40080" y="4114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Partner Opportunity Intake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Context: </a:t>
            </a: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Career Counselor Rondy Yu receives an email from Parker Dewey offering 3 CRM internship slots. Today he tracks this in a spreadsheet. In the new Hub, he captures it once with a tier-aware form in under 2 minutes — the opportunity immediately surfaces to matched students. / L2 / L3 — tier is picked at intake and determines which fields are required.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1051560" y="210312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05156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457200" y="2697480"/>
            <a:ext cx="1783080" cy="1463040"/>
          </a:xfrm>
          <a:prstGeom prst="rect">
            <a:avLst/>
          </a:prstGeom>
          <a:solidFill>
            <a:srgbClr val="F8F6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548640" y="27889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Staff opens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Partnership Hub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48640" y="33375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Picks the right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tab tier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1720" y="3200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3200400" y="210312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320040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2606040" y="2697480"/>
            <a:ext cx="1783080" cy="1463040"/>
          </a:xfrm>
          <a:prstGeom prst="rect">
            <a:avLst/>
          </a:prstGeom>
          <a:solidFill>
            <a:srgbClr val="F8F6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2697480" y="27889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Tags as L1,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L2, or L3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697480" y="33375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Tier determines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required fields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0" y="3200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/>
          <p:nvPr/>
        </p:nvSpPr>
        <p:spPr>
          <a:xfrm>
            <a:off x="5349240" y="210312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34924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54880" y="2697480"/>
            <a:ext cx="1783080" cy="1463040"/>
          </a:xfrm>
          <a:prstGeom prst="rect">
            <a:avLst/>
          </a:prstGeom>
          <a:solidFill>
            <a:srgbClr val="F8F6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846320" y="27889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Fills tier-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specific fields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846320" y="33375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Stipend, salary,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or cohort size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3200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7498080" y="210312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49808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6903720" y="2697480"/>
            <a:ext cx="1783080" cy="1463040"/>
          </a:xfrm>
          <a:prstGeom prst="rect">
            <a:avLst/>
          </a:prstGeom>
          <a:solidFill>
            <a:srgbClr val="F8F6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995160" y="27889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published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995160" y="33375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Matched 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eligible students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E6F5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4434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1005840" y="43891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6D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7A6D"/>
                </a:solidFill>
                <a:latin typeface="Calibri"/>
                <a:ea typeface="Calibri"/>
                <a:cs typeface="Calibri"/>
                <a:sym typeface="Calibri"/>
              </a:rPr>
              <a:t>Impact: One intake form replaces spreadsheets and email threads. Tier-aware fields prevent missing data. Opportunities surface to matched students automatically — no manual broadcast.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640080" y="182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Scenario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640080" y="4114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Student Job Readiness Score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Context: </a:t>
            </a: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Rondy scans his 200-student roster. He needs to know who's actually ready to be referred to partners today — and who still needs workshop completion or counselor coaching. The Readiness Score makes this explicit and transparent.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Readiness Score Breakdown (click to inspect)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640080" y="2377440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640080" y="2377440"/>
            <a:ext cx="411480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822960" y="23957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Readiness Factors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82296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Program Progress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2286000" y="29260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2D86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286000" y="29077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20040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Canvas LMS signal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21"/>
          <p:cNvCxnSpPr/>
          <p:nvPr/>
        </p:nvCxnSpPr>
        <p:spPr>
          <a:xfrm>
            <a:off x="822960" y="329184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1"/>
          <p:cNvSpPr/>
          <p:nvPr/>
        </p:nvSpPr>
        <p:spPr>
          <a:xfrm>
            <a:off x="822960" y="3337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286000" y="33832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C43B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2286000" y="33649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200400" y="3337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Digital Literacy, ELL, etc.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>
            <a:off x="822960" y="374904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21"/>
          <p:cNvSpPr/>
          <p:nvPr/>
        </p:nvSpPr>
        <p:spPr>
          <a:xfrm>
            <a:off x="822960" y="3794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CPL / Credential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286000" y="38404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2D86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286000" y="38221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200400" y="3794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Plus Intake Assessment 15%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21"/>
          <p:cNvCxnSpPr/>
          <p:nvPr/>
        </p:nvCxnSpPr>
        <p:spPr>
          <a:xfrm>
            <a:off x="822960" y="420624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21"/>
          <p:cNvSpPr/>
          <p:nvPr/>
        </p:nvSpPr>
        <p:spPr>
          <a:xfrm>
            <a:off x="822960" y="42519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Counselor Confidence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286000" y="42976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1A7A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286000" y="42793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200400" y="42519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Staff 1–5 rating, defaults null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303520" y="1920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Design Choices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24231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5669280" y="23774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Transparent &amp; Explainable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669280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Click the score to see every input and weight — never a black 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30632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5669280" y="30175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Human Judgment, 20% Weight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669280" y="3246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Counselor Confidence is explicit, not hidden under an algorithm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3703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5669280" y="36576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Ready Threshold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669280" y="3886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Score ≥70 = green Ready badge; 50–69 = amber Nearly Ready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4343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5669280" y="42976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Daily Recompute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669280" y="45262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Overnight + on any trigger (workshop done, CPL approved, rating changed)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40080" y="182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Scenario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40080" y="4114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Matched Referral — L1 &amp; L2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Context: </a:t>
            </a: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Mariah's Readiness Score just hit 72 after Digital Literacy completion. Her Career Partnership card shows 3 matched opportunities — Parker Dewey micro-internship, Snap full-time role, Accenture opening. Rondy picks the best fit and refers in one click.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40080" y="1874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Matched Opportunities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640080" y="2240280"/>
            <a:ext cx="1371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40080" y="22585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B31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C43B31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Parker Dewey · L1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194560" y="2240280"/>
            <a:ext cx="1371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194560" y="22585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B31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C43B31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194560" y="26060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Snap Inc. · L2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1325880" y="3224487"/>
            <a:ext cx="1371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1348740" y="3270207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B31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C43B31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348740" y="3578203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Accenture · L2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029200" y="1874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One-Click Referral With Guardrails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331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/>
          <p:nvPr/>
        </p:nvSpPr>
        <p:spPr>
          <a:xfrm>
            <a:off x="5440680" y="2286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Match Reasons Shown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6766560" y="2286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Program match, location fit, readiness threshold met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834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/>
          <p:nvPr/>
        </p:nvSpPr>
        <p:spPr>
          <a:xfrm>
            <a:off x="5440680" y="2788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Override Allowed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766560" y="2788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Refer a non-matched student with justification (min 20 chars)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3337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/>
          <p:nvPr/>
        </p:nvSpPr>
        <p:spPr>
          <a:xfrm>
            <a:off x="5440680" y="32918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Student Notification OFF by Default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6766560" y="32918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Staff decides per referral — default is student-blind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E6F5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" y="4434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/>
          <p:nvPr/>
        </p:nvSpPr>
        <p:spPr>
          <a:xfrm>
            <a:off x="1005840" y="43891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6D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7A6D"/>
                </a:solidFill>
                <a:latin typeface="Calibri"/>
                <a:ea typeface="Calibri"/>
                <a:cs typeface="Calibri"/>
                <a:sym typeface="Calibri"/>
              </a:rPr>
              <a:t>Impact: Referral takes 3 clicks instead of writing an email. Match reasons prevent blind-fire recommendations. Staff keeps override authority — judgment is never fully delegated to the algorithm.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40080" y="182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Scenario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40080" y="4114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Referral Status Tracking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Context: </a:t>
            </a: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Three days after the Parker Dewey referral, Rondy gets an email: "Mariah scheduled for a 15-minute intro call." Today this stays in his inbox. In the new system, he updates status in two clicks from the Referral Management page.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57200" y="1920240"/>
            <a:ext cx="3840480" cy="2560320"/>
          </a:xfrm>
          <a:prstGeom prst="rect">
            <a:avLst/>
          </a:prstGeom>
          <a:solidFill>
            <a:srgbClr val="FFF5F5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solidFill>
            <a:srgbClr val="C43B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WITHOUT 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731520" y="2423160"/>
            <a:ext cx="32918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Referral lives in email thread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Status known only to the sender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Stale referrals forgotten after 30 days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data on partner response speed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Success stories lost in inboxes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audit trail for compliance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846320" y="1920240"/>
            <a:ext cx="3840480" cy="2560320"/>
          </a:xfrm>
          <a:prstGeom prst="rect">
            <a:avLst/>
          </a:prstGeom>
          <a:solidFill>
            <a:srgbClr val="E6F5F2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5120640" y="2423160"/>
            <a:ext cx="32918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All referrals in one filterable table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Status picker: Referred → Reviewed → Interview → Offer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Stale &gt;14 days auto-surfaces to the top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Offer Accepted triggers banner + close-the-loop prompt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Timestamped notes preserve context across staff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Full audit log for WIOA compliance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640080" y="182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Scenario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640080" y="4114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Cohort Matching — L3 Apprenticeship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457200" y="1156716"/>
            <a:ext cx="8229600" cy="59436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640080" y="1202436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Context: </a:t>
            </a: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AlliedUP Co-op needs 20 CHW apprentices for the May cohort. Instead of 20 individual referrals, staff uses Cohort Matching — auto-generate candidate pool, review, lock selections, submit one cohort referral. This is the CHW + SEIU-UHW + AlliedUP model (launched Jan 2026) systematized.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457200" y="201168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457200" y="2011680"/>
            <a:ext cx="1828800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548640" y="22402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L3 Opportunity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Created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48640" y="28803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AlliedUP needs 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440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/>
          <p:nvPr/>
        </p:nvSpPr>
        <p:spPr>
          <a:xfrm>
            <a:off x="2606040" y="201168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606040" y="2011680"/>
            <a:ext cx="1828800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697480" y="22402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Pool Auto-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Generated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2697480" y="28803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Ranked by Readiness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280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/>
          <p:nvPr/>
        </p:nvSpPr>
        <p:spPr>
          <a:xfrm>
            <a:off x="4754880" y="201168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4754880" y="2011680"/>
            <a:ext cx="182880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4846320" y="22402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Staff Reviews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&amp; Locks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4846320" y="28803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Add, remove, lock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/>
          <p:nvPr/>
        </p:nvSpPr>
        <p:spPr>
          <a:xfrm>
            <a:off x="6903720" y="201168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6903720" y="2011680"/>
            <a:ext cx="1828800" cy="73152"/>
          </a:xfrm>
          <a:prstGeom prst="rect">
            <a:avLst/>
          </a:prstGeom>
          <a:solidFill>
            <a:srgbClr val="2D86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6995160" y="22402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Cohort Referral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Submitted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6995160" y="28803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 record, 20 students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i="1"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Impact: 20 referrals become 1 cohort submission. Lock mechanism prevents two staff from independently selecting the same student. Cohort-level rollup (18 accepted / 2 declined) shows outcome at the right granularity.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640080" y="182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Scenario 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640080" y="4114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Partner Performance Dashboard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Context: </a:t>
            </a: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Rondy has 3 Cybersecurity-friendly partners open for referrals. Before he picks where to send his next graduate, he wants evidence — not gut feeling. The Partner Performance Dashboard shows who responded fastest, offered most, and got best student feedback over the last 90 days.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Core Metrics (90-day window, adjustable)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640080" y="2377440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640080" y="2377440"/>
            <a:ext cx="411480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822960" y="23957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KPIs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82296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Placement 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2286000" y="29260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2D86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2286000" y="29077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20040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Accepted offers / total referrals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25"/>
          <p:cNvCxnSpPr/>
          <p:nvPr/>
        </p:nvCxnSpPr>
        <p:spPr>
          <a:xfrm>
            <a:off x="822960" y="329184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25"/>
          <p:cNvSpPr/>
          <p:nvPr/>
        </p:nvSpPr>
        <p:spPr>
          <a:xfrm>
            <a:off x="822960" y="3337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Offer 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2286000" y="33832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C43B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2286000" y="33649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3200400" y="3337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Offers / interviews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25"/>
          <p:cNvCxnSpPr/>
          <p:nvPr/>
        </p:nvCxnSpPr>
        <p:spPr>
          <a:xfrm>
            <a:off x="822960" y="374904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25"/>
          <p:cNvSpPr/>
          <p:nvPr/>
        </p:nvSpPr>
        <p:spPr>
          <a:xfrm>
            <a:off x="822960" y="3794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2286000" y="38404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2D86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2286000" y="38221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4.2d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3200400" y="3794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Referred → Reviewed avg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25"/>
          <p:cNvCxnSpPr/>
          <p:nvPr/>
        </p:nvCxnSpPr>
        <p:spPr>
          <a:xfrm>
            <a:off x="822960" y="420624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25"/>
          <p:cNvSpPr/>
          <p:nvPr/>
        </p:nvSpPr>
        <p:spPr>
          <a:xfrm>
            <a:off x="822960" y="42519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Student Feedback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2286000" y="4297680"/>
            <a:ext cx="777240" cy="201168"/>
          </a:xfrm>
          <a:prstGeom prst="roundRect">
            <a:avLst>
              <a:gd fmla="val 22727" name="adj"/>
            </a:avLst>
          </a:prstGeom>
          <a:solidFill>
            <a:srgbClr val="1A7A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2286000" y="427939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3200400" y="42519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Post-placement 1–5 avg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303520" y="1920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Design Choices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24231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5"/>
          <p:cNvSpPr/>
          <p:nvPr/>
        </p:nvSpPr>
        <p:spPr>
          <a:xfrm>
            <a:off x="5669280" y="23774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Time Window Adjustable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669280" y="2606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30 / 90 / 365 days / All Time — bad Q1 doesn't permanently brand a partner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30632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/>
          <p:nvPr/>
        </p:nvSpPr>
        <p:spPr>
          <a:xfrm>
            <a:off x="5669280" y="30175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Warnings, Never Auto-Exclusion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5669280" y="3246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Low metrics show context banners, not hidden from list — staff decides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3703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/>
          <p:nvPr/>
        </p:nvSpPr>
        <p:spPr>
          <a:xfrm>
            <a:off x="5669280" y="36576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Graceful for New Partners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5669280" y="3886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"Metrics available after first 5 referrals close" — no misleading zeros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4343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5"/>
          <p:cNvSpPr/>
          <p:nvPr/>
        </p:nvSpPr>
        <p:spPr>
          <a:xfrm>
            <a:off x="5669280" y="42976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Side-by-Side Compare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5669280" y="45262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Compare same tier + overlapping programs — evidence-based ranking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Summary &amp; Next Steps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640080" y="118872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4200"/>
              <a:buFont typeface="Georgia"/>
              <a:buNone/>
            </a:pPr>
            <a:r>
              <a:rPr b="1" lang="en" sz="4200">
                <a:solidFill>
                  <a:srgbClr val="E87722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1554480" y="1188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Scenarios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1554480" y="1463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covering MVP end-to-end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3383280" y="118872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4200"/>
              <a:buFont typeface="Georgia"/>
              <a:buNone/>
            </a:pPr>
            <a:r>
              <a:rPr b="1" lang="en" sz="4200">
                <a:solidFill>
                  <a:srgbClr val="E8772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4297680" y="1188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Partnership Tiers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4297680" y="1463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unified in one Hub with tabs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6126480" y="118872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4200"/>
              <a:buFont typeface="Georgia"/>
              <a:buNone/>
            </a:pPr>
            <a:r>
              <a:rPr b="1" lang="en" sz="4200">
                <a:solidFill>
                  <a:srgbClr val="E87722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7040880" y="1188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Calbright Programs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7040880" y="1463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covered by one framework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640080" y="2651760"/>
            <a:ext cx="7772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Validate Readiness Score formula with 3 active career counselors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8E4DF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Build interactive prototype using Calbright design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8E4DF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Pilot Opportunity Intake + Matched Referral on IT Support program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8E4DF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Layer in Cohort Matching (L3) anchored on CHW + AlliedUP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8E4DF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E8E4DF"/>
                </a:solidFill>
                <a:latin typeface="Calibri"/>
                <a:ea typeface="Calibri"/>
                <a:cs typeface="Calibri"/>
                <a:sym typeface="Calibri"/>
              </a:rPr>
              <a:t>Add Partner Performance Dashboard after 60 days of referral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Calbright College  ·  Staff Portal Career Partnership Hub  · 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